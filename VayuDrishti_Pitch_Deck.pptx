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'India's cities are suffocating. 1.67 million people die every year from air pollution. The data exists — 900 monitoring stations. But only 31% of cities have any action protocol linked to those readings. VayuDrishti closes that gap.'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gap is not about collection — it's about action. CPCB has the sensors. What doesn't exist is the intelligence layer to go from reading → attribution →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go beyond dashboards. Three layers: collect intelligently, reason causally, act automatically. Each layer is built and functional.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async fetches all 12 cities in parallel using asyncio.gather — not sequentially. Gemini free tier covers all demo + hackathon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React app, show the map loading with real data. Click Patna or Delhi — the red bubble — to trigger the city detail panel. Point out the breathing pulse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No other team will let the judge type a policy and see projected outcomes with ₹ cost-benefit. Demo this live in Scene 3. This is what wins the Innovation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13.8 million vulnerable people in Delhi alone. The vulnerability scorer tells administrators exactly who to prioritize for proactive outreach — not just generic city-wide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criterion. Point out which features map to which score. The judges will be checking this against the PS evaluation criteria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 have a working foundation. The 12-day plan is realistic because Phases 1 and 2 are done — what remains is satellite data, polish, and submission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'Clean air is not a luxury. 1.67 million Indians die every year because we measure but don't act. VayuDrishti closes that gap — from signal to intervention, in one platform. Let's build the intelligence layer India needs.'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8111F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-822960"/>
            <a:ext cx="3474720" cy="3474720"/>
          </a:xfrm>
          <a:prstGeom prst="ellipse">
            <a:avLst/>
          </a:prstGeom>
          <a:solidFill>
            <a:srgbClr val="38BDF8">
              <a:alpha val="3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206240"/>
            <a:ext cx="2560320" cy="2560320"/>
          </a:xfrm>
          <a:prstGeom prst="ellipse">
            <a:avLst/>
          </a:prstGeom>
          <a:solidFill>
            <a:srgbClr val="22D3A5">
              <a:alpha val="3000"/>
            </a:srgbClr>
          </a:solidFill>
          <a:ln w="12700">
            <a:solidFill>
              <a:srgbClr val="1A3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🌬️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VayuDrishti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Air Quality Intelligence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Smart City Intervention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3716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"Don't just measure air.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it."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1.67M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0640" y="344728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premature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deaths (air pollution)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39712" y="2834640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39712" y="344728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CAAQMS stations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deployment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58784" y="2834640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58784" y="344728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Cities with any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protocol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277856" y="2834640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24/50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277856" y="344728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polluted 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1-2 cities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4572000"/>
            <a:ext cx="1627632" cy="310896"/>
          </a:xfrm>
          <a:prstGeom prst="roundRect">
            <a:avLst>
              <a:gd name="adj" fmla="val 20588"/>
            </a:avLst>
          </a:prstGeom>
          <a:solidFill>
            <a:srgbClr val="0F1A2E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5994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0" y="4572000"/>
            <a:ext cx="1627632" cy="310896"/>
          </a:xfrm>
          <a:prstGeom prst="roundRect">
            <a:avLst>
              <a:gd name="adj" fmla="val 20588"/>
            </a:avLst>
          </a:prstGeom>
          <a:solidFill>
            <a:srgbClr val="0F1A2E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5994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Intelligence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95360" y="4572000"/>
            <a:ext cx="1627632" cy="310896"/>
          </a:xfrm>
          <a:prstGeom prst="roundRect">
            <a:avLst>
              <a:gd name="adj" fmla="val 20588"/>
            </a:avLst>
          </a:prstGeom>
          <a:solidFill>
            <a:srgbClr val="0F1A2E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5994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Analytics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332720" y="4572000"/>
            <a:ext cx="1627632" cy="310896"/>
          </a:xfrm>
          <a:prstGeom prst="roundRect">
            <a:avLst>
              <a:gd name="adj" fmla="val 20588"/>
            </a:avLst>
          </a:prstGeom>
          <a:solidFill>
            <a:srgbClr val="0F1A2E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45994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Health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20640" y="62179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AI Hackathon 2026 — Problem Statement 5 | Theme: Smart Cities / Environmental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has the data. It doesn't have the intelligence layer to act on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5440680" cy="1353312"/>
          </a:xfrm>
          <a:prstGeom prst="roundRect">
            <a:avLst>
              <a:gd name="adj" fmla="val 4730"/>
            </a:avLst>
          </a:prstGeom>
          <a:solidFill>
            <a:srgbClr val="0A102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Blindness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Cities know AQI is high — they don't know why. Current systems confuse correlation with causation, blaming Diwali when it's stubble burning + meteorological inversion.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5440680" cy="1353312"/>
          </a:xfrm>
          <a:prstGeom prst="roundRect">
            <a:avLst>
              <a:gd name="adj" fmla="val 4730"/>
            </a:avLst>
          </a:prstGeom>
          <a:solidFill>
            <a:srgbClr val="0A102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Spray-and-Pray Interventions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4290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sprinklers and odd-even rules deployed without optimization, cost-benefit analysis, or feedback loops. No one tracks if it worked.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407408"/>
            <a:ext cx="5440680" cy="1353312"/>
          </a:xfrm>
          <a:prstGeom prst="roundRect">
            <a:avLst>
              <a:gd name="adj" fmla="val 4730"/>
            </a:avLst>
          </a:prstGeom>
          <a:solidFill>
            <a:srgbClr val="0A102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4590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Health Advisories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9377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'Avoid morning walks' — same advice for a 25-yr-old athlete and a 70-yr-old COPD patient. Zero personalization, zero language coverage.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389888"/>
            <a:ext cx="5440680" cy="1353312"/>
          </a:xfrm>
          <a:prstGeom prst="roundRect">
            <a:avLst>
              <a:gd name="adj" fmla="val 4730"/>
            </a:avLst>
          </a:prstGeom>
          <a:solidFill>
            <a:srgbClr val="0A102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📴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78040" y="15727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Disengagement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78040" y="19202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pushed, behavior not nudged. No gamification, no personalized routing, no regional language support.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2898648"/>
            <a:ext cx="11247120" cy="1353312"/>
          </a:xfrm>
          <a:prstGeom prst="roundRect">
            <a:avLst>
              <a:gd name="adj" fmla="val 4730"/>
            </a:avLst>
          </a:prstGeom>
          <a:solidFill>
            <a:srgbClr val="0A102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78040" y="30815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Sustainable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34290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solutions are grant-dependent pilots. No revenue model = no scale = no impact after the demo.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Despite 900+ CAAQMS monitoring stations — only 31% of cities have any actionable response protocol linked to readings (CAG Audit, 2024)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VayuDrishti 2.0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air quality intelligence platform — from measurement to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1517904"/>
          </a:xfrm>
          <a:prstGeom prst="roundRect">
            <a:avLst>
              <a:gd name="adj" fmla="val 4217"/>
            </a:avLst>
          </a:prstGeom>
          <a:solidFill>
            <a:srgbClr val="0A1020">
              <a:alpha val="3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27048"/>
            <a:ext cx="1143000" cy="1261872"/>
          </a:xfrm>
          <a:prstGeom prst="roundRect">
            <a:avLst>
              <a:gd name="adj" fmla="val 48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92224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15361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— PERCEPTION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AQI Intelligence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74520" y="22494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AQI for 12 Indian cities via OpenAQ · PM2.5 / NO2 trends · Geospatial bubble map · Breathing pulse ring animation showing urgency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29626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1247120" cy="1517904"/>
          </a:xfrm>
          <a:prstGeom prst="roundRect">
            <a:avLst>
              <a:gd name="adj" fmla="val 4217"/>
            </a:avLst>
          </a:prstGeom>
          <a:solidFill>
            <a:srgbClr val="0A1020">
              <a:alpha val="3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91256"/>
            <a:ext cx="1143000" cy="1261872"/>
          </a:xfrm>
          <a:prstGeom prst="roundRect">
            <a:avLst>
              <a:gd name="adj" fmla="val 4800"/>
            </a:avLst>
          </a:prstGeom>
          <a:solidFill>
            <a:srgbClr val="22D3A5">
              <a:alpha val="12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64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74520" y="32004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— COGNITION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74520" y="3493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&amp; Causal Analysis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874520" y="39136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72-hour AQI forecast with diurnal model · Pollution source attribution by category · Vulnerability scoring for 5 population groups · Enforcement priority ranking with zone targeting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46268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18304"/>
            <a:ext cx="11247120" cy="1517904"/>
          </a:xfrm>
          <a:prstGeom prst="roundRect">
            <a:avLst>
              <a:gd name="adj" fmla="val 4217"/>
            </a:avLst>
          </a:prstGeom>
          <a:solidFill>
            <a:srgbClr val="0A1020">
              <a:alpha val="3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855464"/>
            <a:ext cx="1143000" cy="1261872"/>
          </a:xfrm>
          <a:prstGeom prst="roundRect">
            <a:avLst>
              <a:gd name="adj" fmla="val 4800"/>
            </a:avLst>
          </a:prstGeom>
          <a:solidFill>
            <a:srgbClr val="FDE047">
              <a:alpha val="12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206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874520" y="48646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— 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74520" y="51572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Policy Simulator + Multilingual Advisory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874520" y="5577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any policy in plain English → Gemini projects AQI reduction, ₹Cr savings, confidence score in real-time · Health advisories in 7 Indian languages (Hindi, Kannada, Tamil, Telugu, Bengali, Marathi)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· async · free-tier deployable · built and compiling.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0A1020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9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+ Tailwind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react-leaflet — Dark AQI map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946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Recharts — Trend &amp; forecast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626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🌬️ Breathing pulse AQI rings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7-language advisory 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Policy simulator 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22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Vulnerability scorecard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908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3474720" cy="4206240"/>
          </a:xfrm>
          <a:prstGeom prst="roundRect">
            <a:avLst>
              <a:gd name="adj" fmla="val 1842"/>
            </a:avLst>
          </a:prstGeom>
          <a:solidFill>
            <a:srgbClr val="0A1020">
              <a:alpha val="8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(Python) — Async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176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/api/cities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5328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/api/city/{n}/history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8895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/api/city/{n}/forecast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/api/city/{n}/attribution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/api/city/{n}/vulnerability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39593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/api/simulate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4315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/api/advisory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4788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23960" y="1389888"/>
            <a:ext cx="2880360" cy="4206240"/>
          </a:xfrm>
          <a:prstGeom prst="roundRect">
            <a:avLst>
              <a:gd name="adj" fmla="val 2222"/>
            </a:avLst>
          </a:prstGeom>
          <a:solidFill>
            <a:srgbClr val="0A1020">
              <a:alpha val="8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4996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15400" y="1801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OpenAQ + Gemini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217627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OpenAQ v3 — Live AQI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15400" y="25694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CPCB India — Official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15400" y="29626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🛰️ Sentinel-5P (roadmap)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15400" y="33558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OpenStreetMap — Maps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915400" y="37490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Gemini 1.5 Flash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15400" y="41422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Diurnal forecast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742432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0A1520">
              <a:alpha val="10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9070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Entirely free-tier deployable — OpenAQ free · Gemini 1.5 Flash 1500 req/day free · OpenStreetMap free · GitHub Pages / Railway free hosting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Scene 1: The Crisis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OpenAQ data. Pulsing bubbles. Click any city to open the intelligence panel.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7223760" cy="5074920"/>
          </a:xfrm>
          <a:prstGeom prst="roundRect">
            <a:avLst>
              <a:gd name="adj" fmla="val 1261"/>
            </a:avLst>
          </a:prstGeom>
          <a:solidFill>
            <a:srgbClr val="05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🗺️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CartoDB Dark Matter Tiles · react-leaflet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97780" y="1623060"/>
            <a:ext cx="411480" cy="411480"/>
          </a:xfrm>
          <a:prstGeom prst="ellipse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4980" y="17007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54980" y="1920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Patna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58184" y="2020824"/>
            <a:ext cx="347472" cy="347472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20665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51376" y="22860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Delhi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365760" cy="365760"/>
          </a:xfrm>
          <a:prstGeom prst="ellipse">
            <a:avLst/>
          </a:prstGeom>
          <a:solidFill>
            <a:srgbClr val="F87171">
              <a:alpha val="6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3408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Lucknow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97296" y="2779776"/>
            <a:ext cx="292608" cy="292608"/>
          </a:xfrm>
          <a:prstGeom prst="ellipse">
            <a:avLst/>
          </a:prstGeom>
          <a:solidFill>
            <a:srgbClr val="F87171">
              <a:alpha val="6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27980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35624" y="3017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Kolkata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76272" y="3456432"/>
            <a:ext cx="219456" cy="219456"/>
          </a:xfrm>
          <a:prstGeom prst="ellipse">
            <a:avLst/>
          </a:prstGeom>
          <a:solidFill>
            <a:srgbClr val="FDE047">
              <a:alpha val="60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34381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41448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18104" y="4398264"/>
            <a:ext cx="164592" cy="164592"/>
          </a:xfrm>
          <a:prstGeom prst="ellipse">
            <a:avLst/>
          </a:prstGeom>
          <a:solidFill>
            <a:srgbClr val="86EFAC">
              <a:alpha val="6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43525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45720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Bengaluru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09560" y="1389888"/>
            <a:ext cx="3794760" cy="1920240"/>
          </a:xfrm>
          <a:prstGeom prst="roundRect">
            <a:avLst>
              <a:gd name="adj" fmla="val 3333"/>
            </a:avLst>
          </a:prstGeom>
          <a:solidFill>
            <a:srgbClr val="0A10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4996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Snapshot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AQI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21240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92440" y="2203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Worst 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21240" y="2203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Patna 241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92440" y="2505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(&gt;300)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921240" y="2505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source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21240" y="28072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OpenAQ v3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09560" y="3456432"/>
            <a:ext cx="3794760" cy="2999232"/>
          </a:xfrm>
          <a:prstGeom prst="roundRect">
            <a:avLst>
              <a:gd name="adj" fmla="val 2134"/>
            </a:avLst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AQI Color Scale (CPCB Standard)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2440" y="3968496"/>
            <a:ext cx="182880" cy="182880"/>
          </a:xfrm>
          <a:prstGeom prst="ellipse">
            <a:avLst/>
          </a:prstGeom>
          <a:solidFill>
            <a:srgbClr val="22D3A5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39410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41280" y="39410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92440" y="4325112"/>
            <a:ext cx="182880" cy="18288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4297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Satisfactory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0" y="4297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51–100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92440" y="4681728"/>
            <a:ext cx="182880" cy="182880"/>
          </a:xfrm>
          <a:prstGeom prst="ellipse">
            <a:avLst/>
          </a:prstGeom>
          <a:solidFill>
            <a:srgbClr val="FDE047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4654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0" y="46542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101–150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92440" y="5038344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8" name="Text 46"/>
          <p:cNvSpPr/>
          <p:nvPr/>
        </p:nvSpPr>
        <p:spPr>
          <a:xfrm>
            <a:off x="8366760" y="5010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241280" y="5010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151–200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92440" y="5394960"/>
            <a:ext cx="182880" cy="1828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5367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Poor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241280" y="5367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201–300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92440" y="575157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8366760" y="5724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241280" y="57241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Policy Simulator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any intervention in plain English. Gemini projects AQI impact, cost savings, and feasibility —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0A1020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"Halt all construction in Zone B + ban diesel trucks entering the city for 48 hours"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41280" y="1481328"/>
            <a:ext cx="1325880" cy="475488"/>
          </a:xfrm>
          <a:prstGeom prst="roundRect">
            <a:avLst>
              <a:gd name="adj" fmla="val 1346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0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Simulate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1247120" cy="402336"/>
          </a:xfrm>
          <a:prstGeom prst="roundRect">
            <a:avLst>
              <a:gd name="adj" fmla="val 15909"/>
            </a:avLst>
          </a:prstGeom>
          <a:solidFill>
            <a:srgbClr val="0A1520">
              <a:alpha val="10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Parsed: Temporary halt — Zone B construction + diesel HGV restriction on arterial roads — 48 hours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11247120" cy="1024128"/>
          </a:xfrm>
          <a:prstGeom prst="roundRect">
            <a:avLst>
              <a:gd name="adj" fmla="val 6250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163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AQI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42 points  ·  ~14 hours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3456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−21% PM2.5 reduction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0" y="28163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95360" y="34015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AQI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Cost Savings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₹3.78 Cr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224528" y="385876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Cost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61688" y="4206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₹0.84 Cr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991856" y="385876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9016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Benefit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29016" y="4206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₹2.94 Cr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72744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800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074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224528" y="472744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1688" y="4800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61688" y="5074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991856" y="472744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9016" y="4800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29016" y="5074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1.5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57200" y="5742432"/>
            <a:ext cx="11247120" cy="713232"/>
          </a:xfrm>
          <a:prstGeom prst="roundRect">
            <a:avLst>
              <a:gd name="adj" fmla="val 8974"/>
            </a:avLst>
          </a:prstGeom>
          <a:solidFill>
            <a:srgbClr val="08111F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88873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Recommendation: Deploy in phases — start with CBD Zone B, monitor AQI for 6 hours before extending. Add water sprinklers for an additional 4% PM2.5 reduction.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at risk, and what should they do — in their language.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5532120" cy="5102352"/>
          </a:xfrm>
          <a:prstGeom prst="roundRect">
            <a:avLst>
              <a:gd name="adj" fmla="val 1254"/>
            </a:avLst>
          </a:prstGeom>
          <a:solidFill>
            <a:srgbClr val="0A1020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96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VULNERABILITY —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76272" y="19019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100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5257800" cy="548640"/>
          </a:xfrm>
          <a:prstGeom prst="roundRect">
            <a:avLst>
              <a:gd name="adj" fmla="val 11667"/>
            </a:avLst>
          </a:prstGeom>
          <a:solidFill>
            <a:srgbClr val="0F162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151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5296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Children (under 15)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5.63M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265176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F1628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679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57800" cy="548640"/>
          </a:xfrm>
          <a:prstGeom prst="roundRect">
            <a:avLst>
              <a:gd name="adj" fmla="val 11667"/>
            </a:avLst>
          </a:prstGeom>
          <a:solidFill>
            <a:srgbClr val="0F162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5526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5296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Elderly (60+)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25296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1.43M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F1628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319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803904"/>
            <a:ext cx="5257800" cy="548640"/>
          </a:xfrm>
          <a:prstGeom prst="roundRect">
            <a:avLst>
              <a:gd name="adj" fmla="val 11667"/>
            </a:avLst>
          </a:prstGeom>
          <a:solidFill>
            <a:srgbClr val="0F162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953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5296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COPD / Asthma patients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25296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393192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F1628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3959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443984"/>
            <a:ext cx="5257800" cy="548640"/>
          </a:xfrm>
          <a:prstGeom prst="roundRect">
            <a:avLst>
              <a:gd name="adj" fmla="val 11667"/>
            </a:avLst>
          </a:prstGeom>
          <a:solidFill>
            <a:srgbClr val="0F162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535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5296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Outdoor workers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47457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3.56M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457200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F1628">
              <a:alpha val="20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599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084064"/>
            <a:ext cx="5257800" cy="548640"/>
          </a:xfrm>
          <a:prstGeom prst="roundRect">
            <a:avLst>
              <a:gd name="adj" fmla="val 11667"/>
            </a:avLst>
          </a:prstGeom>
          <a:solidFill>
            <a:srgbClr val="0F162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1755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🏘️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25296" y="5138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Near-road residents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5385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2.38M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51960" y="521208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F1628">
              <a:alpha val="20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51960" y="5239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1389888"/>
            <a:ext cx="5532120" cy="5102352"/>
          </a:xfrm>
          <a:prstGeom prst="roundRect">
            <a:avLst>
              <a:gd name="adj" fmla="val 1254"/>
            </a:avLst>
          </a:prstGeom>
          <a:solidFill>
            <a:srgbClr val="0A1020">
              <a:alpha val="8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4996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HEALTH ADVISORY — 7 LANGUAGES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186537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22D3A5">
              <a:alpha val="12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19019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🇬🇧 English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38160" y="186537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19019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हिंदी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921240" y="186537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21240" y="19019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ಕನ್ನಡ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55080" y="223113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🌺 தமிழ்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38160" y="223113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🌸 తెలుగు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921240" y="223113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21240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🌻 বাংলা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55080" y="2596896"/>
            <a:ext cx="1673352" cy="292608"/>
          </a:xfrm>
          <a:prstGeom prst="roundRect">
            <a:avLst>
              <a:gd name="adj" fmla="val 21875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263347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🦁 मराठी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72200" y="2761488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0A1A14">
              <a:alpha val="10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8529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Delhi — AQI 198 (Poor) — Health Advisory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55080" y="3163824"/>
            <a:ext cx="5166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 quality in Delhi is currently Poor (AQI 198). Healthy adults: limit outdoor activity to under 30 minutes. Children and elderly: stay indoors. Asthma / COPD patients: use inhalers before stepping out and wear N95 masks. Close windows and run air purifiers on high setting.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55080" y="457200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Gemini 1.5 Flash (free tier)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72200" y="4974336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5074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Hindi: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55080" y="535838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दिल्ली में वायु गुणवत्ता खराब है (AQI 198)। बाहरी गतिविधियां सीमित करें। बच्चे और बुजुर्ग घर के अंदर रहें। अस्थमा रोगी बाहर जाते समय N95 मास्क पहनें।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VayuDrishti Wins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judging criterion directly addressed — no filler features.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0A1020">
              <a:alpha val="4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367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19072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4813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LLM Policy Simulator — no team will project AQI impact from plain English in real-time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0" y="174650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Breathing pulse rings — visual urgency that scales with pollution severity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Vulnerability scoring — 5 groups, Census-calibrated, not just a number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0A1020">
              <a:alpha val="4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22D3A5">
              <a:alpha val="18000"/>
            </a:srgbClr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6090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19072" y="2505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50545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City admins: enforcement priorities + ₹Cr cost-benefit before spending public money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27706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Citizens: multilingual health advisories in 7 languages — reaches 800M+ non-English speakers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303580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Policy teams: what-if simulation removes technical barrier for non-developer bureaucrats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0A1020">
              <a:alpha val="4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39312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850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19072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Excellence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35295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Async FastAPI — 12 cities fetched in parallel (not sequentially) via asyncio.gather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379476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Diurnal pattern model — captures real PM2.5 behaviour (rush hour peaks, night biomass)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405993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Graceful fallback — full mock data if API unavailable; demo never crashes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62272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0A1020">
              <a:alpha val="4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66344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FDE047">
              <a:alpha val="18000"/>
            </a:srgbClr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09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19072" y="4553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55371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REST API fully decoupled — swap any city/source without touching frontend code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48188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All 131 NCAP non-attainment cities addable as a single config entry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508406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Gemini + OpenAQ both scale to national deployment on free / low-cost tiers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486400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0A1020">
              <a:alpha val="4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687568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7332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19072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80560" y="557784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Click city → full 5-tab intelligence panel (history, forecast, attribution, simulate, advisory)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80560" y="584301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Dark midnight theme — designed for city command centres, not laptop demos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80560" y="61081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One-line plain English input removes all technical barriers for end users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12-Day Build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build — structured delivery with 2 phases already complete.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2212848" cy="5074920"/>
          </a:xfrm>
          <a:prstGeom prst="roundRect">
            <a:avLst>
              <a:gd name="adj" fmla="val 2893"/>
            </a:avLst>
          </a:prstGeom>
          <a:solidFill>
            <a:srgbClr val="0A1520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3544" y="2395728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432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852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862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OpenAQ integration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34107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map with AQI bubbles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sidebar + history chart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4507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data fallback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07208" y="1389888"/>
            <a:ext cx="2212848" cy="5074920"/>
          </a:xfrm>
          <a:prstGeom prst="roundRect">
            <a:avLst>
              <a:gd name="adj" fmla="val 2893"/>
            </a:avLst>
          </a:prstGeom>
          <a:solidFill>
            <a:srgbClr val="0A1520">
              <a:alpha val="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98648" y="176479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3–4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98648" y="20299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73552" y="2395728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2432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16936" y="2852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2862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72hr diurnal forecast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16936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4107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attribution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16936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scoring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16936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4507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Policy Simulator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57216" y="1389888"/>
            <a:ext cx="2212848" cy="5074920"/>
          </a:xfrm>
          <a:prstGeom prst="roundRect">
            <a:avLst>
              <a:gd name="adj" fmla="val 2893"/>
            </a:avLst>
          </a:prstGeom>
          <a:solidFill>
            <a:srgbClr val="0A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8656" y="176479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5–7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8656" y="20299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Satellite + Causal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66944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96128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Sentinel-5P NO2 integration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66944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96128" y="2999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causal attribution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66944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96128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CPCB cross-validation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66944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96128" y="4096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 mapping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07224" y="1389888"/>
            <a:ext cx="2212848" cy="5074920"/>
          </a:xfrm>
          <a:prstGeom prst="roundRect">
            <a:avLst>
              <a:gd name="adj" fmla="val 2893"/>
            </a:avLst>
          </a:prstGeom>
          <a:solidFill>
            <a:srgbClr val="0A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98664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98664" y="176479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8–10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98664" y="20299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Polish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16952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46136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responsive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16952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46136" y="2999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Multi-city comparison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16952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46136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optimization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16952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46136" y="4096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offline support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857232" y="1389888"/>
            <a:ext cx="2212848" cy="5074920"/>
          </a:xfrm>
          <a:prstGeom prst="roundRect">
            <a:avLst>
              <a:gd name="adj" fmla="val 2893"/>
            </a:avLst>
          </a:prstGeom>
          <a:solidFill>
            <a:srgbClr val="0A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48672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948672" y="176479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11–12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948672" y="20299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66960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296144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66960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296144" y="2999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96696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296144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video (3 min)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966960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○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296144" y="4096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 + README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6565392"/>
            <a:ext cx="11247120" cy="201168"/>
          </a:xfrm>
          <a:prstGeom prst="roundRect">
            <a:avLst>
              <a:gd name="adj" fmla="val 31818"/>
            </a:avLst>
          </a:prstGeom>
          <a:solidFill>
            <a:srgbClr val="0A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 1 &amp; 2 complete and compiling ✓  —  Phases 3–5 structured over remaining 10 days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60B1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206240" cy="4206240"/>
          </a:xfrm>
          <a:prstGeom prst="ellipse">
            <a:avLst/>
          </a:prstGeom>
          <a:solidFill>
            <a:srgbClr val="22D3A5">
              <a:alpha val="7000"/>
            </a:srgbClr>
          </a:solidFill>
          <a:ln w="25400">
            <a:solidFill>
              <a:srgbClr val="1A4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508760"/>
            <a:ext cx="3017520" cy="3017520"/>
          </a:xfrm>
          <a:prstGeom prst="ellipse">
            <a:avLst/>
          </a:prstGeom>
          <a:solidFill>
            <a:srgbClr val="22D3A5">
              <a:alpha val="8000"/>
            </a:srgbClr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27889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2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417320" y="38221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city we're building towards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0058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VayuDrishti 2.0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"Cities don't need more dashboards.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need the intelligence to act.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VayuDrishti gives them both."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Live AQI map — 12 Indian cities (OpenAQ)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8130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72-hour forecast with diurnal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1970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🏭  Source attribution + enforcement priorities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45811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Vulnerability scoring — 5 groups, Census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96519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LLM Policy Simulator — Gemini powered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53492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🗣️  Health advisories — 7 Indian languages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6035040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0F1A2E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6144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🐙  github.com/Dark-fire777/vayudrishti-2.0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2026-07-21T07:31:38Z</dcterms:created>
  <dcterms:modified xsi:type="dcterms:W3CDTF">2026-07-21T07:31:38Z</dcterms:modified>
</cp:coreProperties>
</file>